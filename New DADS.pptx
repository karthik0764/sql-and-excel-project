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77008-1E7D-4E6F-A846-3BD4FEF006B4}" v="2" dt="2026-04-19T10:41:15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 S" userId="8468466e0fa9e2dd" providerId="LiveId" clId="{F656BFEB-A491-4AE8-8246-88A6A8C65A4A}"/>
    <pc:docChg chg="undo custSel modSld">
      <pc:chgData name="Mala S" userId="8468466e0fa9e2dd" providerId="LiveId" clId="{F656BFEB-A491-4AE8-8246-88A6A8C65A4A}" dt="2026-04-19T10:49:32.944" v="32" actId="1076"/>
      <pc:docMkLst>
        <pc:docMk/>
      </pc:docMkLst>
      <pc:sldChg chg="modSp mod">
        <pc:chgData name="Mala S" userId="8468466e0fa9e2dd" providerId="LiveId" clId="{F656BFEB-A491-4AE8-8246-88A6A8C65A4A}" dt="2026-04-19T10:47:06.706" v="15" actId="1076"/>
        <pc:sldMkLst>
          <pc:docMk/>
          <pc:sldMk cId="2620428147" sldId="256"/>
        </pc:sldMkLst>
        <pc:spChg chg="mod">
          <ac:chgData name="Mala S" userId="8468466e0fa9e2dd" providerId="LiveId" clId="{F656BFEB-A491-4AE8-8246-88A6A8C65A4A}" dt="2026-04-19T10:47:06.706" v="15" actId="1076"/>
          <ac:spMkLst>
            <pc:docMk/>
            <pc:sldMk cId="2620428147" sldId="256"/>
            <ac:spMk id="2" creationId="{A6C98DDA-875D-4B1C-35A4-F198467C2980}"/>
          </ac:spMkLst>
        </pc:spChg>
        <pc:spChg chg="mod">
          <ac:chgData name="Mala S" userId="8468466e0fa9e2dd" providerId="LiveId" clId="{F656BFEB-A491-4AE8-8246-88A6A8C65A4A}" dt="2026-04-19T10:46:59.241" v="13" actId="1076"/>
          <ac:spMkLst>
            <pc:docMk/>
            <pc:sldMk cId="2620428147" sldId="256"/>
            <ac:spMk id="3" creationId="{12CEBE7F-77B7-7AC8-683F-B9A73CA75AE3}"/>
          </ac:spMkLst>
        </pc:spChg>
      </pc:sldChg>
      <pc:sldChg chg="modSp mod">
        <pc:chgData name="Mala S" userId="8468466e0fa9e2dd" providerId="LiveId" clId="{F656BFEB-A491-4AE8-8246-88A6A8C65A4A}" dt="2026-04-19T10:41:31.007" v="3" actId="1076"/>
        <pc:sldMkLst>
          <pc:docMk/>
          <pc:sldMk cId="2480989303" sldId="257"/>
        </pc:sldMkLst>
        <pc:spChg chg="mod">
          <ac:chgData name="Mala S" userId="8468466e0fa9e2dd" providerId="LiveId" clId="{F656BFEB-A491-4AE8-8246-88A6A8C65A4A}" dt="2026-04-19T10:41:31.007" v="3" actId="1076"/>
          <ac:spMkLst>
            <pc:docMk/>
            <pc:sldMk cId="2480989303" sldId="257"/>
            <ac:spMk id="2" creationId="{6E56C522-1831-EB72-CBD5-DFB0A597DA4A}"/>
          </ac:spMkLst>
        </pc:spChg>
        <pc:spChg chg="mod">
          <ac:chgData name="Mala S" userId="8468466e0fa9e2dd" providerId="LiveId" clId="{F656BFEB-A491-4AE8-8246-88A6A8C65A4A}" dt="2026-04-19T10:41:27.216" v="2" actId="1076"/>
          <ac:spMkLst>
            <pc:docMk/>
            <pc:sldMk cId="2480989303" sldId="257"/>
            <ac:spMk id="3" creationId="{B31DAE5D-EC2A-BE75-3271-ADE782275DBD}"/>
          </ac:spMkLst>
        </pc:spChg>
      </pc:sldChg>
      <pc:sldChg chg="addSp delSp modSp mod">
        <pc:chgData name="Mala S" userId="8468466e0fa9e2dd" providerId="LiveId" clId="{F656BFEB-A491-4AE8-8246-88A6A8C65A4A}" dt="2026-04-19T10:49:32.944" v="32" actId="1076"/>
        <pc:sldMkLst>
          <pc:docMk/>
          <pc:sldMk cId="2156035372" sldId="258"/>
        </pc:sldMkLst>
        <pc:picChg chg="add mod modCrop">
          <ac:chgData name="Mala S" userId="8468466e0fa9e2dd" providerId="LiveId" clId="{F656BFEB-A491-4AE8-8246-88A6A8C65A4A}" dt="2026-04-19T10:49:32.944" v="32" actId="1076"/>
          <ac:picMkLst>
            <pc:docMk/>
            <pc:sldMk cId="2156035372" sldId="258"/>
            <ac:picMk id="3" creationId="{8480AD68-D958-DC7A-5CFC-7953257F0A55}"/>
          </ac:picMkLst>
        </pc:picChg>
        <pc:picChg chg="del">
          <ac:chgData name="Mala S" userId="8468466e0fa9e2dd" providerId="LiveId" clId="{F656BFEB-A491-4AE8-8246-88A6A8C65A4A}" dt="2026-04-19T10:42:17.755" v="12" actId="478"/>
          <ac:picMkLst>
            <pc:docMk/>
            <pc:sldMk cId="2156035372" sldId="258"/>
            <ac:picMk id="5" creationId="{92510A46-3FA5-04A8-B669-73FAF6B942E9}"/>
          </ac:picMkLst>
        </pc:picChg>
      </pc:sldChg>
      <pc:sldChg chg="modSp mod">
        <pc:chgData name="Mala S" userId="8468466e0fa9e2dd" providerId="LiveId" clId="{F656BFEB-A491-4AE8-8246-88A6A8C65A4A}" dt="2026-04-19T10:47:19.799" v="17" actId="1076"/>
        <pc:sldMkLst>
          <pc:docMk/>
          <pc:sldMk cId="3501092504" sldId="259"/>
        </pc:sldMkLst>
        <pc:spChg chg="mod">
          <ac:chgData name="Mala S" userId="8468466e0fa9e2dd" providerId="LiveId" clId="{F656BFEB-A491-4AE8-8246-88A6A8C65A4A}" dt="2026-04-19T10:47:19.799" v="17" actId="1076"/>
          <ac:spMkLst>
            <pc:docMk/>
            <pc:sldMk cId="3501092504" sldId="259"/>
            <ac:spMk id="3" creationId="{1BA2BA9F-CBA3-CEA4-D424-58FD64F0C081}"/>
          </ac:spMkLst>
        </pc:spChg>
      </pc:sldChg>
      <pc:sldChg chg="modSp mod">
        <pc:chgData name="Mala S" userId="8468466e0fa9e2dd" providerId="LiveId" clId="{F656BFEB-A491-4AE8-8246-88A6A8C65A4A}" dt="2026-04-19T10:47:36.124" v="19" actId="1076"/>
        <pc:sldMkLst>
          <pc:docMk/>
          <pc:sldMk cId="2782094999" sldId="260"/>
        </pc:sldMkLst>
        <pc:spChg chg="mod">
          <ac:chgData name="Mala S" userId="8468466e0fa9e2dd" providerId="LiveId" clId="{F656BFEB-A491-4AE8-8246-88A6A8C65A4A}" dt="2026-04-19T10:47:36.124" v="19" actId="1076"/>
          <ac:spMkLst>
            <pc:docMk/>
            <pc:sldMk cId="2782094999" sldId="260"/>
            <ac:spMk id="3" creationId="{064BD12E-1514-E09D-33D6-A6852A7638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27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59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23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8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49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81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66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58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7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04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217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6207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099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439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81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134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72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311CA-CDF1-4B8A-BC7E-12FA77847773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4CFF6-CD5B-413B-A9DB-7C0F3B9D43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922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8DDA-875D-4B1C-35A4-F198467C2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9391" y="1275470"/>
            <a:ext cx="8574622" cy="2616199"/>
          </a:xfrm>
        </p:spPr>
        <p:txBody>
          <a:bodyPr/>
          <a:lstStyle/>
          <a:p>
            <a:r>
              <a:rPr lang="en-IN" sz="3600" dirty="0"/>
              <a:t>Capstone Project 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EBE7F-77B7-7AC8-683F-B9A73CA75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222" y="2235907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dirty="0"/>
              <a:t>Data Science and Data Analytics </a:t>
            </a:r>
          </a:p>
        </p:txBody>
      </p:sp>
    </p:spTree>
    <p:extLst>
      <p:ext uri="{BB962C8B-B14F-4D97-AF65-F5344CB8AC3E}">
        <p14:creationId xmlns:p14="http://schemas.microsoft.com/office/powerpoint/2010/main" val="262042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C522-1831-EB72-CBD5-DFB0A597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89" y="971591"/>
            <a:ext cx="10018713" cy="1752599"/>
          </a:xfrm>
        </p:spPr>
        <p:txBody>
          <a:bodyPr/>
          <a:lstStyle/>
          <a:p>
            <a:r>
              <a:rPr lang="en-IN" dirty="0"/>
              <a:t>Data Analytics and Data Science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AE5D-EC2A-BE75-3271-ADE78227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351" y="2625048"/>
            <a:ext cx="10018713" cy="312420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tx1"/>
                </a:solidFill>
              </a:rPr>
              <a:t>Data Cleaning, Statistical Analysis of EDA and Data Storage: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Extracted columns: Company, Employees, Price Today, Country.</a:t>
            </a:r>
          </a:p>
          <a:p>
            <a:r>
              <a:rPr lang="en-US" dirty="0">
                <a:solidFill>
                  <a:schemeClr val="tx1"/>
                </a:solidFill>
              </a:rPr>
              <a:t>Parsed HTML table using Beautiful Soup and stored results in a pandas Data Frame.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Numeric Cleaning (Employees &amp; Price):</a:t>
            </a:r>
          </a:p>
          <a:p>
            <a:r>
              <a:rPr lang="en-US" dirty="0">
                <a:solidFill>
                  <a:schemeClr val="tx1"/>
                </a:solidFill>
              </a:rPr>
              <a:t>Removed symbols (commas, ₹, etc.).</a:t>
            </a:r>
          </a:p>
          <a:p>
            <a:r>
              <a:rPr lang="en-US" dirty="0">
                <a:solidFill>
                  <a:schemeClr val="tx1"/>
                </a:solidFill>
              </a:rPr>
              <a:t>Converted employee counts into integers.</a:t>
            </a:r>
          </a:p>
          <a:p>
            <a:r>
              <a:rPr lang="en-US" dirty="0">
                <a:solidFill>
                  <a:schemeClr val="tx1"/>
                </a:solidFill>
              </a:rPr>
              <a:t>Converted stock prices into floats.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98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2BA9F-CBA3-CEA4-D424-58FD64F0C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723" y="1502860"/>
            <a:ext cx="10018713" cy="312420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u="sng" dirty="0">
                <a:solidFill>
                  <a:schemeClr val="tx1"/>
                </a:solidFill>
              </a:rPr>
              <a:t>Techniques Used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i="1" u="sng" dirty="0">
                <a:solidFill>
                  <a:schemeClr val="tx1"/>
                </a:solidFill>
                <a:highlight>
                  <a:srgbClr val="0000FF"/>
                </a:highlight>
              </a:rPr>
              <a:t>K-Means (Unsupervised Clustering)</a:t>
            </a:r>
            <a:br>
              <a:rPr lang="en-US" sz="2000" b="1" i="1" u="sng" dirty="0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000" b="1" dirty="0">
                <a:solidFill>
                  <a:schemeClr val="tx1"/>
                </a:solidFill>
              </a:rPr>
              <a:t>Grouped companies into clusters based on employee count and stock price.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No labels are required — the algorithm discovers natural groupings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(e.g., workforce-heavy vs. leaner companies).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Useful for pattern discovery, such as identifying tiers of company sizes.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i="1" u="sng" dirty="0">
                <a:solidFill>
                  <a:schemeClr val="tx1"/>
                </a:solidFill>
              </a:rPr>
              <a:t>Limitation</a:t>
            </a:r>
            <a:r>
              <a:rPr lang="en-US" sz="2000" b="1" dirty="0">
                <a:solidFill>
                  <a:schemeClr val="tx1"/>
                </a:solidFill>
              </a:rPr>
              <a:t>: It doesn’t “classify” into predefined categories, only clusters by similarity.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i="1" u="sng" dirty="0">
                <a:solidFill>
                  <a:schemeClr val="tx1"/>
                </a:solidFill>
                <a:highlight>
                  <a:srgbClr val="0000FF"/>
                </a:highlight>
              </a:rPr>
              <a:t>Confusion Matrix</a:t>
            </a:r>
            <a:br>
              <a:rPr lang="en-US" sz="2000" b="1" i="1" u="sng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Accuracy=Correct Predictions Total Predictions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Correct predictions = 17+1=18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Total predictions = 17+0+1+1=19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Accuracy=1819≈94.7%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09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D12E-1514-E09D-33D6-A6852A763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880724"/>
            <a:ext cx="10018713" cy="312420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2000" dirty="0">
              <a:highlight>
                <a:srgbClr val="0000FF"/>
              </a:highlight>
            </a:endParaRPr>
          </a:p>
          <a:p>
            <a:pPr marL="0" indent="0" algn="ctr">
              <a:buNone/>
            </a:pPr>
            <a:r>
              <a:rPr lang="en-US" sz="2000" b="1" u="sng" dirty="0">
                <a:highlight>
                  <a:srgbClr val="0000FF"/>
                </a:highlight>
              </a:rPr>
              <a:t>Logistic Regression:</a:t>
            </a:r>
          </a:p>
          <a:p>
            <a:pPr marL="0" indent="0" algn="ctr">
              <a:buNone/>
            </a:pPr>
            <a:r>
              <a:rPr lang="en-US" sz="2000" dirty="0"/>
              <a:t>Decision Boundary Plot:</a:t>
            </a:r>
          </a:p>
          <a:p>
            <a:pPr marL="0" indent="0" algn="ctr">
              <a:buNone/>
            </a:pPr>
            <a:r>
              <a:rPr lang="en-US" sz="2000" dirty="0"/>
              <a:t>Shows how Logistic Regression separates Small (0) vs. Large (1)</a:t>
            </a:r>
          </a:p>
          <a:p>
            <a:pPr marL="0" indent="0" algn="ctr">
              <a:buNone/>
            </a:pPr>
            <a:r>
              <a:rPr lang="en-US" sz="2000" dirty="0"/>
              <a:t>companies using a sigmoid curve.</a:t>
            </a:r>
          </a:p>
          <a:p>
            <a:pPr marL="0" indent="0" algn="ctr">
              <a:buNone/>
            </a:pPr>
            <a:r>
              <a:rPr lang="en-US" sz="2000" dirty="0"/>
              <a:t>Clear separation for “Small” class, partial overlap for “Large.”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u="sng" dirty="0">
                <a:highlight>
                  <a:srgbClr val="0000FF"/>
                </a:highlight>
              </a:rPr>
              <a:t>Key Points:</a:t>
            </a:r>
          </a:p>
          <a:p>
            <a:pPr marL="0" indent="0" algn="ctr">
              <a:buNone/>
            </a:pPr>
            <a:r>
              <a:rPr lang="en-US" sz="2000" dirty="0"/>
              <a:t>Logistic Regression is simple, interpretable, and effective.</a:t>
            </a:r>
          </a:p>
          <a:p>
            <a:pPr marL="0" indent="0" algn="ctr">
              <a:buNone/>
            </a:pPr>
            <a:r>
              <a:rPr lang="en-US" sz="2000" dirty="0"/>
              <a:t>Strong performance overall, though slightly weaker recall for “Large”</a:t>
            </a:r>
          </a:p>
          <a:p>
            <a:pPr marL="0" indent="0" algn="ctr">
              <a:buNone/>
            </a:pPr>
            <a:r>
              <a:rPr lang="en-US" sz="2000" dirty="0"/>
              <a:t>companies.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209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80AD68-D958-DC7A-5CFC-7953257F0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4" t="19355" r="27499" b="14122"/>
          <a:stretch>
            <a:fillRect/>
          </a:stretch>
        </p:blipFill>
        <p:spPr>
          <a:xfrm>
            <a:off x="589936" y="452283"/>
            <a:ext cx="11012128" cy="567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353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252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Capstone Project  </vt:lpstr>
      <vt:lpstr>Data Analytics and Data Science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 S</dc:creator>
  <cp:lastModifiedBy>Mala S</cp:lastModifiedBy>
  <cp:revision>3</cp:revision>
  <dcterms:created xsi:type="dcterms:W3CDTF">2026-04-19T09:41:43Z</dcterms:created>
  <dcterms:modified xsi:type="dcterms:W3CDTF">2026-04-19T10:49:39Z</dcterms:modified>
</cp:coreProperties>
</file>